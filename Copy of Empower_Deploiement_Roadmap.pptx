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607040" y="-822960"/>
            <a:ext cx="2926080" cy="2926080"/>
          </a:xfrm>
          <a:prstGeom prst="ellipse">
            <a:avLst/>
          </a:prstGeom>
          <a:solidFill>
            <a:srgbClr val="2430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1874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FEUILLE DE ROUTE DE DÉPLOIEMENT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2286000"/>
            <a:ext cx="8686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Déployer Empower,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module par module (P</a:t>
            </a:r>
            <a:r>
              <a:rPr b="1" lang="en-US" sz="4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roposition)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4160520"/>
            <a:ext cx="7589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Estimation du temps de configuration par module, et ce qu'il faut préparer en amont de chaque atelier.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640080" y="5074920"/>
            <a:ext cx="1097280" cy="0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640080" y="5257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C8"/>
                </a:solidFill>
                <a:latin typeface="Calibri"/>
                <a:ea typeface="Calibri"/>
                <a:cs typeface="Calibri"/>
                <a:sym typeface="Calibri"/>
              </a:rPr>
              <a:t>Empower by Ringover  •  Document de préparation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Vue d'ensemble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4 phases de configuration, réparties sur plusieurs ateliers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600200"/>
            <a:ext cx="2697480" cy="4114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22960" y="265176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Fondations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22960" y="33832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Cadrage, rôles, vocabulaire métier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822960" y="4800600"/>
            <a:ext cx="21488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>
            <a:off x="822960" y="49377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2h00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22960" y="53949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temps de config.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474720" y="1600200"/>
            <a:ext cx="2697480" cy="4114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7490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749040" y="1920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749040" y="265176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Analyse &amp; scoring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749040" y="33832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Framework </a:t>
            </a:r>
            <a:r>
              <a:rPr lang="en-US" sz="1150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 scorecards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4"/>
          <p:cNvCxnSpPr/>
          <p:nvPr/>
        </p:nvCxnSpPr>
        <p:spPr>
          <a:xfrm>
            <a:off x="3749040" y="4800600"/>
            <a:ext cx="21488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4"/>
          <p:cNvSpPr/>
          <p:nvPr/>
        </p:nvSpPr>
        <p:spPr>
          <a:xfrm>
            <a:off x="3749040" y="49377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4h30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749040" y="53949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temps de config.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0" y="1600200"/>
            <a:ext cx="2697480" cy="4114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67512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675120" y="1920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675120" y="265176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Automatisation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675120" y="33832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Moments, workflows, résumés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6675120" y="4800600"/>
            <a:ext cx="21488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6675120" y="49377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4h00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675120" y="53949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temps de config.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326880" y="1600200"/>
            <a:ext cx="2697480" cy="4114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60120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9601200" y="1920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601200" y="265176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Coaching &amp; intégrations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9601200" y="33832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Pitch Room, CRM, Ask Empower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4"/>
          <p:cNvCxnSpPr/>
          <p:nvPr/>
        </p:nvCxnSpPr>
        <p:spPr>
          <a:xfrm>
            <a:off x="9601200" y="4800600"/>
            <a:ext cx="21488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4"/>
          <p:cNvSpPr/>
          <p:nvPr/>
        </p:nvSpPr>
        <p:spPr>
          <a:xfrm>
            <a:off x="9601200" y="49377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b="1" i="0" lang="en-US" sz="24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r>
              <a:rPr b="1" lang="en-US" sz="24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30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9601200" y="53949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temps de config.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Total estimé : ~13h45 de configuration, réparties en plusieurs sessions courtes plutôt qu'en un seul bloc.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Empower by Ringover — Feuille de route de déploiement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" y="6583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Fondations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692640" y="411480"/>
            <a:ext cx="192024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9692640" y="4572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r>
              <a:rPr b="1" lang="en-US" sz="20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9692640" y="841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phase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48640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743200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22960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Cadrage du besoin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822960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Atelier de recueil des objectifs d'évaluation, de la structure d'équipe et des priorités métier.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5"/>
          <p:cNvCxnSpPr/>
          <p:nvPr/>
        </p:nvCxnSpPr>
        <p:spPr>
          <a:xfrm>
            <a:off x="822960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5"/>
          <p:cNvSpPr/>
          <p:nvPr/>
        </p:nvSpPr>
        <p:spPr>
          <a:xfrm>
            <a:off x="822960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822960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Objectifs d'évaluation, organigramme équipe, CRM utilisé, quelques exemples d'appels types.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416552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4690872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690872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611112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30</a:t>
            </a: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min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690872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Rôles &amp; groupes (si pas d</a:t>
            </a: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’intégration avec Ringover)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690872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Création des groupes utilisateurs et attribution des rôles (Admin, Supervisor, User).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5"/>
          <p:cNvCxnSpPr/>
          <p:nvPr/>
        </p:nvCxnSpPr>
        <p:spPr>
          <a:xfrm>
            <a:off x="4690872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5"/>
          <p:cNvSpPr/>
          <p:nvPr/>
        </p:nvSpPr>
        <p:spPr>
          <a:xfrm>
            <a:off x="4690872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690872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Liste des utilisateurs avec le rôle souhaité pour chacun et l'organisation en équipes.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284464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8558784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558784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0479024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30</a:t>
            </a: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min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558784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Vocabulaire métier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558784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Ajout des termes spécifiques pour fiabiliser la transcription et l'analyse.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8558784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/>
          <p:nvPr/>
        </p:nvSpPr>
        <p:spPr>
          <a:xfrm>
            <a:off x="8558784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558784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Noms de produits, clients clés, acronymes internes</a:t>
            </a:r>
            <a:r>
              <a:rPr lang="en-US" sz="1100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Empower by Ringover — Feuille de route de déploiement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48640" y="6583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Analyse &amp; scoring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692640" y="411480"/>
            <a:ext cx="192024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9692640" y="4572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r>
              <a:rPr b="1" lang="en-US" sz="20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30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9692640" y="841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phase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48640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743200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h30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22960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Framework de vente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22960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Configuration de la méthodologie (BANT, MEDDPICC, SPICED ou custom) et des metrics associées.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822960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/>
          <p:nvPr/>
        </p:nvSpPr>
        <p:spPr>
          <a:xfrm>
            <a:off x="822960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22960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Méthodologie de vente utilisée et étapes clés attendues dans un appel type.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416552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690872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690872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611112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1h30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690872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Scorecard principale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690872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Grille d'évaluation IA + statistique : critères, pondération, tolérance, mots interdits.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4690872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6"/>
          <p:cNvSpPr/>
          <p:nvPr/>
        </p:nvSpPr>
        <p:spPr>
          <a:xfrm>
            <a:off x="4690872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690872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Grille existante si disponible, critères prioritaires et pondération souhaitée.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284464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558784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558784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0479024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1h30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558784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Scorecard Qualité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558784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Grille secondaire dédiée à la conformité et au ton, distincte de la grille commerciale.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6"/>
          <p:cNvCxnSpPr/>
          <p:nvPr/>
        </p:nvCxnSpPr>
        <p:spPr>
          <a:xfrm>
            <a:off x="8558784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6"/>
          <p:cNvSpPr/>
          <p:nvPr/>
        </p:nvSpPr>
        <p:spPr>
          <a:xfrm>
            <a:off x="8558784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558784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Script d'appel type et exemples d'appels réussis / à corriger.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Empower by Ringover — Feuille de route de déploiement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8640" y="6583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Automatisation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692640" y="411480"/>
            <a:ext cx="192024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9692640" y="4572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4h00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9692640" y="841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phase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48640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743200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22960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Moments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22960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Détection automatique de mots-clés : objections, mentions concurrents, signaux de closing.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7"/>
          <p:cNvCxnSpPr/>
          <p:nvPr/>
        </p:nvCxnSpPr>
        <p:spPr>
          <a:xfrm>
            <a:off x="822960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7"/>
          <p:cNvSpPr/>
          <p:nvPr/>
        </p:nvSpPr>
        <p:spPr>
          <a:xfrm>
            <a:off x="822960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22960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Liste des expressions ou mots-clés à détecter par thématique.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416552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690872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690872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611112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h30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690872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Workflows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690872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Règles automatiques : flag, email, changement de scorecard selon les événements détectés.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4690872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7"/>
          <p:cNvSpPr/>
          <p:nvPr/>
        </p:nvSpPr>
        <p:spPr>
          <a:xfrm>
            <a:off x="4690872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690872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Règles métier : qui alerter, à quel moment, et quelle action déclencher.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284464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8558784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8558784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0479024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1h30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8558784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Style de résumé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8558784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Modèle de résumé d'appel généré par IA, appliqué par défaut à l'équipe.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7"/>
          <p:cNvCxnSpPr/>
          <p:nvPr/>
        </p:nvCxnSpPr>
        <p:spPr>
          <a:xfrm>
            <a:off x="8558784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7"/>
          <p:cNvSpPr/>
          <p:nvPr/>
        </p:nvSpPr>
        <p:spPr>
          <a:xfrm>
            <a:off x="8558784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8558784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Format souhaité : longueur, champs à faire apparaître, structure.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Empower by Ringover — Feuille de route de déploiement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48640" y="6583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Coaching &amp; intégrations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692640" y="411480"/>
            <a:ext cx="192024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9692640" y="4572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r>
              <a:rPr b="1" lang="en-US" sz="20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692640" y="841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phase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48640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743200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h30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22960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Pitch Room (2 personas)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822960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Personas d'entraînement réalistes : scénario, objectif, style de négociation, objections.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8"/>
          <p:cNvCxnSpPr/>
          <p:nvPr/>
        </p:nvCxnSpPr>
        <p:spPr>
          <a:xfrm>
            <a:off x="822960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8"/>
          <p:cNvSpPr/>
          <p:nvPr/>
        </p:nvSpPr>
        <p:spPr>
          <a:xfrm>
            <a:off x="822960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822960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Profils clients types, objections fréquentes et </a:t>
            </a:r>
            <a:r>
              <a:rPr lang="en-US" sz="1100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votre</a:t>
            </a: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 attendu de l'interlocuteur.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416552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690872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690872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611112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1h00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690872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Webhook / CRM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690872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Connexion de la remontée d'appels vers le CRM</a:t>
            </a:r>
            <a:r>
              <a:rPr lang="en-US" sz="1100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8"/>
          <p:cNvCxnSpPr/>
          <p:nvPr/>
        </p:nvCxnSpPr>
        <p:spPr>
          <a:xfrm>
            <a:off x="4690872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8"/>
          <p:cNvSpPr/>
          <p:nvPr/>
        </p:nvSpPr>
        <p:spPr>
          <a:xfrm>
            <a:off x="4690872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690872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Accès admin CRM et contact technique côté client pour valider la connexion.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284464" y="1417320"/>
            <a:ext cx="3611880" cy="489204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8558784" y="1691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8558784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0479024" y="16916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1h00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8558784" y="23317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Templates Ask Empower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8558784" y="30175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Prompts prêts à l'emploi pour l'analyse cross-appels (coaching, tendances, objections).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8"/>
          <p:cNvCxnSpPr/>
          <p:nvPr/>
        </p:nvCxnSpPr>
        <p:spPr>
          <a:xfrm>
            <a:off x="8558784" y="448056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8"/>
          <p:cNvSpPr/>
          <p:nvPr/>
        </p:nvSpPr>
        <p:spPr>
          <a:xfrm>
            <a:off x="8558784" y="4617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À PRÉPARER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8558784" y="4910328"/>
            <a:ext cx="3063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Cas d'usage prioritaires : ex. suivi mensuel, analyse des objections.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Empower by Ringover — Feuille de route de déploiement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Récapitulatif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Répartition du temps de configuration par phase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48640" y="1513315"/>
            <a:ext cx="3977700" cy="4480500"/>
          </a:xfrm>
          <a:prstGeom prst="roundRect">
            <a:avLst>
              <a:gd fmla="val 275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868680" y="1970515"/>
            <a:ext cx="333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TEMPS TOTAL ESTIMÉ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868680" y="2336275"/>
            <a:ext cx="3337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~1</a:t>
            </a:r>
            <a:r>
              <a:rPr b="1" lang="en-US" sz="48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r>
              <a:rPr b="1" i="0" lang="en-US" sz="4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r>
              <a:rPr b="1" lang="en-US" sz="4800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868680" y="3387835"/>
            <a:ext cx="333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configuration effective, hors formation finale des utilisateurs.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9"/>
          <p:cNvCxnSpPr/>
          <p:nvPr/>
        </p:nvCxnSpPr>
        <p:spPr>
          <a:xfrm>
            <a:off x="868680" y="4210795"/>
            <a:ext cx="3337500" cy="0"/>
          </a:xfrm>
          <a:prstGeom prst="straightConnector1">
            <a:avLst/>
          </a:prstGeom>
          <a:noFill/>
          <a:ln cap="flat" cmpd="sng" w="12700">
            <a:solidFill>
              <a:srgbClr val="3B45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9"/>
          <p:cNvSpPr/>
          <p:nvPr/>
        </p:nvSpPr>
        <p:spPr>
          <a:xfrm>
            <a:off x="868680" y="4393675"/>
            <a:ext cx="333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+ou-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1h à 1h30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68680" y="4805155"/>
            <a:ext cx="3337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 workshop de formation utilisateurs, à planifier une fois la configuration finalisée.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Empower by Ringover — Feuille de route de déploiement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Bien préparer les ateliers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Ce qu'il faut réunir avant chaque session pour gagner du temps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48640" y="1600200"/>
            <a:ext cx="3611880" cy="470916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822960" y="187452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1417320" y="18745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Contenu métier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0"/>
          <p:cNvCxnSpPr/>
          <p:nvPr/>
        </p:nvCxnSpPr>
        <p:spPr>
          <a:xfrm>
            <a:off x="822960" y="251460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0"/>
          <p:cNvSpPr/>
          <p:nvPr/>
        </p:nvSpPr>
        <p:spPr>
          <a:xfrm>
            <a:off x="822960" y="2697480"/>
            <a:ext cx="30632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Méthodologie de vente utilisée (BANT / MEDDPICC / SPICED ou custom)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Grille d'évaluation existante, si elle existe déjà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Script d'appel type et exemples d'appels réussis / à corriger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Mots-clés, objections et mentions concurrents à détecter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416552" y="1600200"/>
            <a:ext cx="3611880" cy="470916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690872" y="187452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4690872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285232" y="18745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Accès &amp; organisation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0"/>
          <p:cNvCxnSpPr/>
          <p:nvPr/>
        </p:nvCxnSpPr>
        <p:spPr>
          <a:xfrm>
            <a:off x="4690872" y="251460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10"/>
          <p:cNvSpPr/>
          <p:nvPr/>
        </p:nvSpPr>
        <p:spPr>
          <a:xfrm>
            <a:off x="4690872" y="2697480"/>
            <a:ext cx="30632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Liste des utilisateurs avec le rôle souhaité pour chacun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Accès admin CRM et contact technique disponible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Organigramme d'équipe et regroupements souhaités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Noms produits, clients clés et acronymes internes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8284464" y="1600200"/>
            <a:ext cx="3611880" cy="470916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276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8558784" y="187452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8558784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9153144" y="18745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Décisions à prendre en amont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0"/>
          <p:cNvCxnSpPr/>
          <p:nvPr/>
        </p:nvCxnSpPr>
        <p:spPr>
          <a:xfrm>
            <a:off x="8558784" y="251460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4E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0"/>
          <p:cNvSpPr/>
          <p:nvPr/>
        </p:nvSpPr>
        <p:spPr>
          <a:xfrm>
            <a:off x="8558784" y="2697480"/>
            <a:ext cx="30632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Critères prioritaires pour le scoring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Règles d'alerte : qui doit être notifié, quand, pour quelle 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Profils clients types pour les mises en situation Pitch Room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A4F63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4A4F63"/>
                </a:solidFill>
                <a:latin typeface="Calibri"/>
                <a:ea typeface="Calibri"/>
                <a:cs typeface="Calibri"/>
                <a:sym typeface="Calibri"/>
              </a:rPr>
              <a:t>Cas d'usage prioritaires pour l'analyse cross-appels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Empower by Ringover — Feuille de route de déploiement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0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D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640080" y="2103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Prochaine étape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40080" y="2514600"/>
            <a:ext cx="9144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Planifions le premier atelier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cadrage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40080" y="39776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Réunissez les éléments de préparation de la phase 1 et convenons d'une date pour démarrer la configuration d'Empower.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1"/>
          <p:cNvCxnSpPr/>
          <p:nvPr/>
        </p:nvCxnSpPr>
        <p:spPr>
          <a:xfrm>
            <a:off x="640080" y="4892040"/>
            <a:ext cx="1097280" cy="0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1"/>
          <p:cNvSpPr/>
          <p:nvPr/>
        </p:nvSpPr>
        <p:spPr>
          <a:xfrm>
            <a:off x="640080" y="5074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C8"/>
                </a:solidFill>
                <a:latin typeface="Calibri"/>
                <a:ea typeface="Calibri"/>
                <a:cs typeface="Calibri"/>
                <a:sym typeface="Calibri"/>
              </a:rPr>
              <a:t>Ringover — Empower Customer Success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